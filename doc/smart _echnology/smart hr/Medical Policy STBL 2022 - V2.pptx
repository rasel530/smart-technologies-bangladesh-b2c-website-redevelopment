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3" r:id="rId6"/>
    <p:sldId id="265" r:id="rId7"/>
    <p:sldId id="264" r:id="rId8"/>
    <p:sldId id="267" r:id="rId9"/>
    <p:sldId id="266" r:id="rId10"/>
    <p:sldId id="262" r:id="rId1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FFCCCC"/>
    <a:srgbClr val="00CCFF"/>
    <a:srgbClr val="DE78C8"/>
    <a:srgbClr val="CCCCFF"/>
    <a:srgbClr val="FFCC99"/>
    <a:srgbClr val="66FFCC"/>
    <a:srgbClr val="9A2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8C29B-2489-4D00-83A7-5E9852DFE943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1E4BD-7C96-490B-A250-68DE74409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6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1E4BD-7C96-490B-A250-68DE74409C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1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7D74-2589-4DAC-871D-6477FBEC6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C9475-09AD-400D-832D-B047D14B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3CB58-9C6D-40BC-8F8B-A1251FF2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1F2D1-E6A2-4153-80B2-82196B21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8B4BF-98D4-40AC-B57E-F457D693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95A7-36A6-44E6-A8FD-2BF505E4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3549F-81D6-4035-9303-7522ABC8E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0D5D-4A39-4FE6-8C67-E133B7251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ABE6-F2C1-4251-A757-845C81A8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5F81D-47EA-4D7C-8776-86C48469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4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3FCC-07CC-469D-8F38-3FD2047C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7C48D-A873-4127-93EA-E86C362AB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24B9-7E3B-4EB3-9831-64053183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841C-BC25-4311-A91D-19244673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65B25-BDF7-4D42-8F5E-A1702A32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6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A7E1-6659-4A6F-85DE-7E9D0F02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3AA5-385C-4B8B-8722-F33456920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41762-C0B2-4C1D-B832-B7C0A7D04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2B2C3-0462-4FF9-9909-F87CF02D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38EC1-5689-42CE-9A4E-FED70747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B5C72-1C5B-4A94-BC08-603A4EDD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8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4C91-A6E9-401B-8DC8-082D3BD5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CD76F-83EE-4CF0-89E8-8BAC8C232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FC8EA-E8B5-4370-A969-A8D2404F7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F9A0D-3E4D-421C-A865-859476DAD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90BF0-2E41-449F-A17A-0821204CC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FD620-7DCB-4A50-96DA-46492947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7354F-60AD-4455-9B6F-B337AB86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8FE25-D3D5-45F0-A502-139BE392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6F9A-D80D-42F5-BE89-A9B91CB2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7CCA1-B98C-4B09-B3E9-658628A4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F3A90-50C1-4BA7-9F84-29F90704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7B667-DD3D-4729-B367-5018B443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8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C2CA0-5F0D-41FF-A99D-E79D2868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9468E-FCCE-4D98-A448-AECFF049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75468-A300-41F2-8286-779E7E1D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1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1CE5-CA9F-48B3-B17E-5E405D5A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66AE-7F9C-441A-89C4-E2FC31ED9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A2943-8670-478C-9F17-4A7D11218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76126-52B9-43EF-A4AB-D61198CC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4CDEA-EECC-43FE-BAE0-6B261DC5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808DA-B925-49F9-A4B8-E374B84E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0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1501-4569-4B8B-83F7-65200063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9C27A-8A19-4209-BBA9-9F5889A7F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69590-32B6-4BEC-B604-003FC3C33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A0925-3577-4AD7-8599-87E77652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87EEC-F99B-4D0A-898D-6EF3F60C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C03D7-2BC3-45FE-8DB3-A6E6FC6C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3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CDAE-1559-4BF6-A54B-F9831C6D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8F009-565A-4139-80FC-B91A3CB23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4DFFB-03FF-472F-9C7D-D123CDAD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6AEC3-59E3-49E0-8E18-93E74FE4B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DD0FF-647A-44BD-BD58-615E7682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8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4642B-9DB0-447B-B5F1-F97B6370B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5022A-F8D5-4E53-863E-EDE7C3E3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6F294-45C2-4564-A2A2-50316156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3279C-865B-4DE7-BFA7-D6C3297C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B6F07-F1D8-492A-A93F-4EC9DAE9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1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8DC75-864C-4A1E-9DF2-D333BEE7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9FDFD-EAAB-4137-85BE-FB9AD144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E8AB8-4741-4D26-A80E-EE1EB1F5C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58462-104C-4F19-9D42-F69F14B285B5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7F13-AD07-4790-BABA-69C49026D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806D-D89B-414A-960F-7C92175E0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FA0F9-2165-4909-8FEF-8D134A8F8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2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EEED-40DC-4B59-81C7-DB3C01090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428" y="1942521"/>
            <a:ext cx="9144000" cy="142794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Group Medical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33735-27CB-4C12-AF57-C1FF6384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428" y="3679950"/>
            <a:ext cx="3999914" cy="596622"/>
          </a:xfrm>
        </p:spPr>
        <p:txBody>
          <a:bodyPr/>
          <a:lstStyle/>
          <a:p>
            <a:pPr algn="l"/>
            <a:r>
              <a:rPr lang="en-US" b="1" dirty="0"/>
              <a:t>  Smart Group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C167B-0B11-4DB1-98C4-E9F382669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322033"/>
            <a:ext cx="3657600" cy="91744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4E3566-4D01-47D1-84CE-2EF66A370952}"/>
              </a:ext>
            </a:extLst>
          </p:cNvPr>
          <p:cNvCxnSpPr/>
          <p:nvPr/>
        </p:nvCxnSpPr>
        <p:spPr>
          <a:xfrm>
            <a:off x="989428" y="3485271"/>
            <a:ext cx="839372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763D25-5682-4485-A355-BD2DAA7E15E8}"/>
              </a:ext>
            </a:extLst>
          </p:cNvPr>
          <p:cNvCxnSpPr/>
          <p:nvPr/>
        </p:nvCxnSpPr>
        <p:spPr>
          <a:xfrm>
            <a:off x="9355015" y="3471203"/>
            <a:ext cx="0" cy="26060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56E58-6C7B-4ECB-810A-21AEBBAFEEF0}"/>
              </a:ext>
            </a:extLst>
          </p:cNvPr>
          <p:cNvCxnSpPr/>
          <p:nvPr/>
        </p:nvCxnSpPr>
        <p:spPr>
          <a:xfrm>
            <a:off x="1169965" y="3314118"/>
            <a:ext cx="839372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7AF37C-E9F8-4AD5-91FB-29F8E72D8065}"/>
              </a:ext>
            </a:extLst>
          </p:cNvPr>
          <p:cNvCxnSpPr/>
          <p:nvPr/>
        </p:nvCxnSpPr>
        <p:spPr>
          <a:xfrm>
            <a:off x="9535551" y="3300046"/>
            <a:ext cx="0" cy="26060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1E498979-A05C-4F81-B901-35C5900FA9FB}"/>
              </a:ext>
            </a:extLst>
          </p:cNvPr>
          <p:cNvSpPr txBox="1">
            <a:spLocks/>
          </p:cNvSpPr>
          <p:nvPr/>
        </p:nvSpPr>
        <p:spPr>
          <a:xfrm>
            <a:off x="1111344" y="4860361"/>
            <a:ext cx="5486404" cy="1216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Version: 02</a:t>
            </a:r>
          </a:p>
          <a:p>
            <a:pPr algn="l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Effective Date: 1</a:t>
            </a:r>
            <a:r>
              <a:rPr lang="en-US" sz="2000" b="1" baseline="30000" dirty="0">
                <a:solidFill>
                  <a:schemeClr val="tx2">
                    <a:lumMod val="50000"/>
                  </a:schemeClr>
                </a:solidFill>
              </a:rPr>
              <a:t>st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 April 2022</a:t>
            </a:r>
          </a:p>
          <a:p>
            <a:pPr algn="l"/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(Immediate effect from the date of approval)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320CBBB-B80E-4DAB-A865-07713367F4F5}"/>
              </a:ext>
            </a:extLst>
          </p:cNvPr>
          <p:cNvSpPr txBox="1">
            <a:spLocks/>
          </p:cNvSpPr>
          <p:nvPr/>
        </p:nvSpPr>
        <p:spPr>
          <a:xfrm>
            <a:off x="1111344" y="4280165"/>
            <a:ext cx="4217968" cy="59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Presented by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3850395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B96A-62FD-4EBA-9961-61FE3C5D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and Coverage 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6F1DCE-B47E-4E84-84C7-D090451B1773}"/>
              </a:ext>
            </a:extLst>
          </p:cNvPr>
          <p:cNvCxnSpPr/>
          <p:nvPr/>
        </p:nvCxnSpPr>
        <p:spPr>
          <a:xfrm>
            <a:off x="838200" y="1564076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072A2-46A2-4192-9901-749CDABA1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954C3F-CB69-4BA2-93A5-35EE638868C5}"/>
              </a:ext>
            </a:extLst>
          </p:cNvPr>
          <p:cNvSpPr txBox="1"/>
          <p:nvPr/>
        </p:nvSpPr>
        <p:spPr>
          <a:xfrm>
            <a:off x="838200" y="2011680"/>
            <a:ext cx="10515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Group Medical Policy Scheme is to cover expenses for in-hospital treatment within Bangladesh.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Employee:</a:t>
            </a:r>
          </a:p>
          <a:p>
            <a:r>
              <a:rPr lang="en-US" sz="2400" dirty="0"/>
              <a:t>Regular all employees (Executive – Non Executive)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Dependent unmarried children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Up to 2 children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Age: 1</a:t>
            </a:r>
            <a:r>
              <a:rPr lang="en-US" sz="2400" baseline="30000" dirty="0"/>
              <a:t>st</a:t>
            </a:r>
            <a:r>
              <a:rPr lang="en-US" sz="2400" dirty="0"/>
              <a:t> day to 18 years.</a:t>
            </a:r>
          </a:p>
          <a:p>
            <a:endParaRPr lang="en-US" sz="2400" dirty="0"/>
          </a:p>
          <a:p>
            <a:r>
              <a:rPr lang="en-US" sz="2800" b="1" dirty="0"/>
              <a:t>To get coverage:</a:t>
            </a:r>
          </a:p>
          <a:p>
            <a:r>
              <a:rPr lang="en-US" sz="2400" dirty="0"/>
              <a:t>Application through prescribed form submitted to HR.</a:t>
            </a:r>
          </a:p>
        </p:txBody>
      </p:sp>
      <p:pic>
        <p:nvPicPr>
          <p:cNvPr id="29" name="Content Placeholder 28" descr="Family with two children">
            <a:extLst>
              <a:ext uri="{FF2B5EF4-FFF2-40B4-BE49-F238E27FC236}">
                <a16:creationId xmlns:a16="http://schemas.microsoft.com/office/drawing/2014/main" id="{FBA9EC94-6D7E-4046-9704-E28BC8CD7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570706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423238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AE70-AADF-4B60-901E-6B22EAD9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covered? </a:t>
            </a:r>
          </a:p>
        </p:txBody>
      </p:sp>
      <p:pic>
        <p:nvPicPr>
          <p:cNvPr id="5" name="Content Placeholder 4" descr="Checklist">
            <a:extLst>
              <a:ext uri="{FF2B5EF4-FFF2-40B4-BE49-F238E27FC236}">
                <a16:creationId xmlns:a16="http://schemas.microsoft.com/office/drawing/2014/main" id="{4F98949F-447E-4413-94FA-3E7689339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3890" y="570706"/>
            <a:ext cx="914400" cy="9144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63A0C0-5A4D-44BA-8DE2-9AB86C390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8EC2F7-4909-4798-9788-EC4E22CC445F}"/>
              </a:ext>
            </a:extLst>
          </p:cNvPr>
          <p:cNvCxnSpPr/>
          <p:nvPr/>
        </p:nvCxnSpPr>
        <p:spPr>
          <a:xfrm>
            <a:off x="838200" y="1564076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33AA3A-9E8E-4848-81BE-4357B18A4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165709"/>
              </p:ext>
            </p:extLst>
          </p:nvPr>
        </p:nvGraphicFramePr>
        <p:xfrm>
          <a:off x="1292897" y="1643047"/>
          <a:ext cx="9356346" cy="467803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306045">
                  <a:extLst>
                    <a:ext uri="{9D8B030D-6E8A-4147-A177-3AD203B41FA5}">
                      <a16:colId xmlns:a16="http://schemas.microsoft.com/office/drawing/2014/main" val="82154558"/>
                    </a:ext>
                  </a:extLst>
                </a:gridCol>
                <a:gridCol w="5050301">
                  <a:extLst>
                    <a:ext uri="{9D8B030D-6E8A-4147-A177-3AD203B41FA5}">
                      <a16:colId xmlns:a16="http://schemas.microsoft.com/office/drawing/2014/main" val="1695611158"/>
                    </a:ext>
                  </a:extLst>
                </a:gridCol>
              </a:tblGrid>
              <a:tr h="5670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General Hospitalization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Executive &amp; Non-Executive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924489"/>
                  </a:ext>
                </a:extLst>
              </a:tr>
              <a:tr h="640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Annual Coverage (max)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50,000 BDT per employee per Hospitalize- </a:t>
                      </a:r>
                    </a:p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2 times a year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81253"/>
                  </a:ext>
                </a:extLst>
              </a:tr>
              <a:tr h="6611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Room Charge (max)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strike="noStrike" dirty="0">
                          <a:effectLst/>
                        </a:rPr>
                        <a:t>Including 3000/-  or at actual subject to maximum per day (max 7 days)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11158"/>
                  </a:ext>
                </a:extLst>
              </a:tr>
              <a:tr h="576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Maternity Benefit (up to 2 children)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Only Female Employee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60347"/>
                  </a:ext>
                </a:extLst>
              </a:tr>
              <a:tr h="3899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Normal Delivery (max)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15,000/-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45649"/>
                  </a:ext>
                </a:extLst>
              </a:tr>
              <a:tr h="3977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Cesarean section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35,000/-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629037"/>
                  </a:ext>
                </a:extLst>
              </a:tr>
              <a:tr h="436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Spouse Maternity Benefit (Up to 2 children)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Only Male Employee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31370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Normal Delivery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10,000/-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441886"/>
                  </a:ext>
                </a:extLst>
              </a:tr>
              <a:tr h="417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Cesarean section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20,000/-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2446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DFEE11-3546-4C94-8ABF-06C9249BE898}"/>
              </a:ext>
            </a:extLst>
          </p:cNvPr>
          <p:cNvSpPr txBox="1"/>
          <p:nvPr/>
        </p:nvSpPr>
        <p:spPr>
          <a:xfrm>
            <a:off x="731518" y="6297798"/>
            <a:ext cx="10789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**Benefits include During hospitalization: Tests, medical supplies and surgery.</a:t>
            </a:r>
          </a:p>
        </p:txBody>
      </p:sp>
    </p:spTree>
    <p:extLst>
      <p:ext uri="{BB962C8B-B14F-4D97-AF65-F5344CB8AC3E}">
        <p14:creationId xmlns:p14="http://schemas.microsoft.com/office/powerpoint/2010/main" val="103780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AAB7-84F1-49DA-9443-5D0B30D4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5"/>
            <a:ext cx="10515600" cy="1325563"/>
          </a:xfrm>
        </p:spPr>
        <p:txBody>
          <a:bodyPr/>
          <a:lstStyle/>
          <a:p>
            <a:r>
              <a:rPr lang="en-US" b="1" dirty="0"/>
              <a:t>Terms &amp; Conditions </a:t>
            </a:r>
          </a:p>
        </p:txBody>
      </p:sp>
      <p:pic>
        <p:nvPicPr>
          <p:cNvPr id="5" name="Content Placeholder 4" descr="Research">
            <a:extLst>
              <a:ext uri="{FF2B5EF4-FFF2-40B4-BE49-F238E27FC236}">
                <a16:creationId xmlns:a16="http://schemas.microsoft.com/office/drawing/2014/main" id="{FD24A46B-1CAF-40C3-9DA3-5A78ECF23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055" y="295748"/>
            <a:ext cx="914400" cy="914400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EE7854-0A7D-45C7-8371-6ABFD6569F9A}"/>
              </a:ext>
            </a:extLst>
          </p:cNvPr>
          <p:cNvCxnSpPr/>
          <p:nvPr/>
        </p:nvCxnSpPr>
        <p:spPr>
          <a:xfrm>
            <a:off x="838200" y="1198308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8EB2E8C-20D1-41B8-AC55-8959123ADF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428568-1659-4A13-B92B-D1BB645AE14B}"/>
              </a:ext>
            </a:extLst>
          </p:cNvPr>
          <p:cNvSpPr txBox="1"/>
          <p:nvPr/>
        </p:nvSpPr>
        <p:spPr>
          <a:xfrm>
            <a:off x="184043" y="1310852"/>
            <a:ext cx="118438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be eligible for this medical benefit the employee must have at least 6 months of continuous service length with the company.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female employees are eligible for the maternity benefit up to two children. Female employees having two alive children are not eligible for the benefit.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Male employees are entitled to the benefit regarding spouse maternity benefit up to two children. Male employees having two alive children are not eligible for the benefit.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both are the employees of the company, only female will be entitled for the benefit.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Surgeries regarding beautification and personal lifestyle are not included in this coverage.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Employee must be hospitalized for at least 24 hours to claim any medical benefit.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Medical claims must be submitted within 15 days of the date of incurrence.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any fraudulence is found with the medical documentation it may result into dismiss from service.</a:t>
            </a:r>
          </a:p>
        </p:txBody>
      </p:sp>
    </p:spTree>
    <p:extLst>
      <p:ext uri="{BB962C8B-B14F-4D97-AF65-F5344CB8AC3E}">
        <p14:creationId xmlns:p14="http://schemas.microsoft.com/office/powerpoint/2010/main" val="256690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2354-9F1A-4303-B8C2-A70A17DC8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20"/>
            <a:ext cx="10515600" cy="1325563"/>
          </a:xfrm>
        </p:spPr>
        <p:txBody>
          <a:bodyPr/>
          <a:lstStyle/>
          <a:p>
            <a:r>
              <a:rPr lang="en-US" b="1" dirty="0"/>
              <a:t>Required Budget for 1 year </a:t>
            </a:r>
          </a:p>
        </p:txBody>
      </p:sp>
      <p:pic>
        <p:nvPicPr>
          <p:cNvPr id="5" name="Content Placeholder 4" descr="Bar chart">
            <a:extLst>
              <a:ext uri="{FF2B5EF4-FFF2-40B4-BE49-F238E27FC236}">
                <a16:creationId xmlns:a16="http://schemas.microsoft.com/office/drawing/2014/main" id="{7F1A4012-E639-437F-B4FF-40DE474FC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3366" y="-90477"/>
            <a:ext cx="914400" cy="914400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7AC16A-335C-4E3B-BEE6-3E508647B506}"/>
              </a:ext>
            </a:extLst>
          </p:cNvPr>
          <p:cNvCxnSpPr/>
          <p:nvPr/>
        </p:nvCxnSpPr>
        <p:spPr>
          <a:xfrm>
            <a:off x="838200" y="762216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92D04FB-5793-48F5-87C6-CA22A061D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332" y="0"/>
            <a:ext cx="2147668" cy="53870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732E4E-E27D-428F-AC0D-E2BD9A9DB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990657"/>
              </p:ext>
            </p:extLst>
          </p:nvPr>
        </p:nvGraphicFramePr>
        <p:xfrm>
          <a:off x="365760" y="804418"/>
          <a:ext cx="11493304" cy="563858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9469">
                  <a:extLst>
                    <a:ext uri="{9D8B030D-6E8A-4147-A177-3AD203B41FA5}">
                      <a16:colId xmlns:a16="http://schemas.microsoft.com/office/drawing/2014/main" val="2681042757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1629279285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4168080945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2667983498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469306598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3914782638"/>
                    </a:ext>
                  </a:extLst>
                </a:gridCol>
                <a:gridCol w="1102810">
                  <a:extLst>
                    <a:ext uri="{9D8B030D-6E8A-4147-A177-3AD203B41FA5}">
                      <a16:colId xmlns:a16="http://schemas.microsoft.com/office/drawing/2014/main" val="2403448072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2431163442"/>
                    </a:ext>
                  </a:extLst>
                </a:gridCol>
                <a:gridCol w="893415">
                  <a:extLst>
                    <a:ext uri="{9D8B030D-6E8A-4147-A177-3AD203B41FA5}">
                      <a16:colId xmlns:a16="http://schemas.microsoft.com/office/drawing/2014/main" val="778679507"/>
                    </a:ext>
                  </a:extLst>
                </a:gridCol>
                <a:gridCol w="1917120">
                  <a:extLst>
                    <a:ext uri="{9D8B030D-6E8A-4147-A177-3AD203B41FA5}">
                      <a16:colId xmlns:a16="http://schemas.microsoft.com/office/drawing/2014/main" val="4127857052"/>
                    </a:ext>
                  </a:extLst>
                </a:gridCol>
              </a:tblGrid>
              <a:tr h="53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Category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STBL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GOAL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 err="1">
                          <a:effectLst/>
                        </a:rPr>
                        <a:t>Unisoft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Dig. Eqp.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1000Fix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E78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Properties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Printing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 err="1">
                          <a:effectLst/>
                        </a:rPr>
                        <a:t>Eerna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Total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705284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Total Employee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880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129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332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153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58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1628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963955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Female employee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72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0031426"/>
                  </a:ext>
                </a:extLst>
              </a:tr>
              <a:tr h="51027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One time hospitalize (Maximum Benefit)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221646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If 20%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88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12.5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2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1.3 Lacs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33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4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5.5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1 Crore 61 Lacs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2106921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If 15%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66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9.5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97.5K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24.5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11.5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4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1 Crore 21 Lacs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9736909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If 10%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44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6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 Lac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65K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16.5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2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7.5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2.5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80 Lacs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1365946"/>
                  </a:ext>
                </a:extLst>
              </a:tr>
              <a:tr h="51027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Spouse Maternity Benefit of 20% Male Employee (C-Section)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25675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20% Male Employee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33.4 Lacs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4.6 Lacs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40K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12.8 Lacs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Lacs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6 Lacs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 Lacs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61 Lacs 80K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276366"/>
                  </a:ext>
                </a:extLst>
              </a:tr>
              <a:tr h="51027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Maternity Benefit of 10% Female Employee (C-Section)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844518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10% Female Employee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1.4 Lacs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35K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35K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2 Lacs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41988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EA10BB-ED6A-4DD5-8AE5-6C541371EEDB}"/>
              </a:ext>
            </a:extLst>
          </p:cNvPr>
          <p:cNvSpPr txBox="1"/>
          <p:nvPr/>
        </p:nvSpPr>
        <p:spPr>
          <a:xfrm>
            <a:off x="365760" y="6513339"/>
            <a:ext cx="4965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**As of Jan 2022</a:t>
            </a:r>
          </a:p>
        </p:txBody>
      </p:sp>
    </p:spTree>
    <p:extLst>
      <p:ext uri="{BB962C8B-B14F-4D97-AF65-F5344CB8AC3E}">
        <p14:creationId xmlns:p14="http://schemas.microsoft.com/office/powerpoint/2010/main" val="30460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5CFB-0BEA-488A-B0D5-9F310A21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Medical Expenses of 2020 &amp; 2021</a:t>
            </a:r>
          </a:p>
        </p:txBody>
      </p:sp>
      <p:pic>
        <p:nvPicPr>
          <p:cNvPr id="9" name="Content Placeholder 8" descr="Coins">
            <a:extLst>
              <a:ext uri="{FF2B5EF4-FFF2-40B4-BE49-F238E27FC236}">
                <a16:creationId xmlns:a16="http://schemas.microsoft.com/office/drawing/2014/main" id="{5815F058-04E8-4FFD-8F4A-8134939B1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619" y="570706"/>
            <a:ext cx="914400" cy="9144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08F7B4-4F8E-4224-880D-BE4657761A16}"/>
              </a:ext>
            </a:extLst>
          </p:cNvPr>
          <p:cNvCxnSpPr/>
          <p:nvPr/>
        </p:nvCxnSpPr>
        <p:spPr>
          <a:xfrm>
            <a:off x="838200" y="1564076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55D913-BB99-4D2A-864C-70EDB453F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178493"/>
              </p:ext>
            </p:extLst>
          </p:nvPr>
        </p:nvGraphicFramePr>
        <p:xfrm>
          <a:off x="1209821" y="2122876"/>
          <a:ext cx="9439421" cy="3391659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337293">
                  <a:extLst>
                    <a:ext uri="{9D8B030D-6E8A-4147-A177-3AD203B41FA5}">
                      <a16:colId xmlns:a16="http://schemas.microsoft.com/office/drawing/2014/main" val="2861981274"/>
                    </a:ext>
                  </a:extLst>
                </a:gridCol>
                <a:gridCol w="2689279">
                  <a:extLst>
                    <a:ext uri="{9D8B030D-6E8A-4147-A177-3AD203B41FA5}">
                      <a16:colId xmlns:a16="http://schemas.microsoft.com/office/drawing/2014/main" val="3158874264"/>
                    </a:ext>
                  </a:extLst>
                </a:gridCol>
                <a:gridCol w="2370877">
                  <a:extLst>
                    <a:ext uri="{9D8B030D-6E8A-4147-A177-3AD203B41FA5}">
                      <a16:colId xmlns:a16="http://schemas.microsoft.com/office/drawing/2014/main" val="2400832095"/>
                    </a:ext>
                  </a:extLst>
                </a:gridCol>
                <a:gridCol w="3041972">
                  <a:extLst>
                    <a:ext uri="{9D8B030D-6E8A-4147-A177-3AD203B41FA5}">
                      <a16:colId xmlns:a16="http://schemas.microsoft.com/office/drawing/2014/main" val="4204163654"/>
                    </a:ext>
                  </a:extLst>
                </a:gridCol>
              </a:tblGrid>
              <a:tr h="8005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Year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Total Medical Expense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No. of Employee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Remarks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98615"/>
                  </a:ext>
                </a:extLst>
              </a:tr>
              <a:tr h="12639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2020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54,03,688/-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44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Most of the employees applied for their family members (such as. Mother, Father, Spouse, Dependent etc.)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7324647"/>
                  </a:ext>
                </a:extLst>
              </a:tr>
              <a:tr h="13271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2021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27,55,082/-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61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2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16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DA22-CB6A-44A7-839E-A2B1EBB8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 Duty Accidental Benefit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CF6E7-BE4F-4AAB-B81E-F190E6141DD2}"/>
              </a:ext>
            </a:extLst>
          </p:cNvPr>
          <p:cNvCxnSpPr/>
          <p:nvPr/>
        </p:nvCxnSpPr>
        <p:spPr>
          <a:xfrm>
            <a:off x="838200" y="1564076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CBA55F-6C03-42D5-B3D6-28174B68F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9E3035-AACD-48E6-BE7D-7D8E429FD4FD}"/>
              </a:ext>
            </a:extLst>
          </p:cNvPr>
          <p:cNvSpPr txBox="1"/>
          <p:nvPr/>
        </p:nvSpPr>
        <p:spPr>
          <a:xfrm>
            <a:off x="838200" y="1927274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Executive &amp; Non-Executive:</a:t>
            </a:r>
          </a:p>
          <a:p>
            <a:r>
              <a:rPr lang="en-US" sz="2800" dirty="0"/>
              <a:t> </a:t>
            </a:r>
          </a:p>
          <a:p>
            <a:r>
              <a:rPr lang="en-US" sz="2800" dirty="0"/>
              <a:t>If the employee faces any accident or medical emergency during working is entitled for this benefit. The total medical expense (hospitalization, medical supplies etc.) is covered by the company.</a:t>
            </a:r>
          </a:p>
        </p:txBody>
      </p:sp>
    </p:spTree>
    <p:extLst>
      <p:ext uri="{BB962C8B-B14F-4D97-AF65-F5344CB8AC3E}">
        <p14:creationId xmlns:p14="http://schemas.microsoft.com/office/powerpoint/2010/main" val="277188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E8923-CC11-4D39-8EDA-1A66A4D57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F39E18-79CA-408E-AB44-5324DB9A58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Death and Disability Benefit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83386C-C0C5-4254-87BF-8147BFE47134}"/>
              </a:ext>
            </a:extLst>
          </p:cNvPr>
          <p:cNvCxnSpPr/>
          <p:nvPr/>
        </p:nvCxnSpPr>
        <p:spPr>
          <a:xfrm>
            <a:off x="838200" y="1113900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CFB0FFA-49D4-495F-9F6B-D1DD331F18A2}"/>
              </a:ext>
            </a:extLst>
          </p:cNvPr>
          <p:cNvSpPr txBox="1"/>
          <p:nvPr/>
        </p:nvSpPr>
        <p:spPr>
          <a:xfrm>
            <a:off x="1026942" y="1266086"/>
            <a:ext cx="996578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b="1" u="sng" dirty="0">
                <a:effectLst/>
                <a:ea typeface="Calibri" panose="020F0502020204030204" pitchFamily="34" charset="0"/>
              </a:rPr>
              <a:t>Disability</a:t>
            </a:r>
            <a:endParaRPr lang="en-US" sz="2000" u="sng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1.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Permanent Disability:</a:t>
            </a:r>
            <a:endParaRPr lang="en-US" sz="2000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In case of permanent disability employee will get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Tk. 1,25,000.00 (</a:t>
            </a:r>
            <a:r>
              <a:rPr lang="en-US" sz="2000" dirty="0">
                <a:effectLst/>
                <a:ea typeface="Calibri" panose="020F0502020204030204" pitchFamily="34" charset="0"/>
              </a:rPr>
              <a:t>One Lac Twenty Five Thousand).</a:t>
            </a: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2.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Partial Disability:</a:t>
            </a:r>
            <a:endParaRPr lang="en-US" sz="2000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In case of partial disability based on duration, employee will </a:t>
            </a:r>
            <a:r>
              <a:rPr lang="en-US" sz="2000" dirty="0">
                <a:ea typeface="Calibri" panose="020F0502020204030204" pitchFamily="34" charset="0"/>
              </a:rPr>
              <a:t>be </a:t>
            </a:r>
            <a:r>
              <a:rPr lang="en-US" sz="2000" dirty="0">
                <a:effectLst/>
                <a:ea typeface="Calibri" panose="020F0502020204030204" pitchFamily="34" charset="0"/>
              </a:rPr>
              <a:t>entitled to get full salary for first 2 months, 2/3 salary for next 2 months and half salary for next eight months. Benefit will cover maximum 1 year.</a:t>
            </a: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Although the employee’s disability may be obvious, it must be certified by a Medical Practitioner</a:t>
            </a:r>
            <a:r>
              <a:rPr lang="en-US" sz="2000">
                <a:effectLst/>
                <a:ea typeface="Calibri" panose="020F0502020204030204" pitchFamily="34" charset="0"/>
              </a:rPr>
              <a:t>. </a:t>
            </a: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endParaRPr lang="en-US" sz="2000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 </a:t>
            </a:r>
            <a:r>
              <a:rPr lang="en-US" sz="2000" b="1" u="sng" dirty="0">
                <a:effectLst/>
                <a:ea typeface="Calibri" panose="020F0502020204030204" pitchFamily="34" charset="0"/>
              </a:rPr>
              <a:t>Death</a:t>
            </a:r>
            <a:endParaRPr lang="en-US" sz="2000" u="sng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In case of death of an employee, through accident, terminal illness or natural causes whilst being employed by the Group, his nominees will be entitled to get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TK. 2,00,000.00 (Two Lac).</a:t>
            </a:r>
            <a:endParaRPr lang="en-US" sz="2000" dirty="0">
              <a:effectLst/>
              <a:ea typeface="Calibri" panose="020F0502020204030204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effectLst/>
                <a:ea typeface="Calibri" panose="020F0502020204030204" pitchFamily="34" charset="0"/>
              </a:rPr>
              <a:t>Management at its discretion may provide for additional compensation in such an eventuality.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0663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D542AC-610B-44B2-B6AA-525062DF6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083" y="0"/>
            <a:ext cx="2822917" cy="7080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06AD317-6722-48DD-BFDE-32C67CF6C312}"/>
              </a:ext>
            </a:extLst>
          </p:cNvPr>
          <p:cNvSpPr txBox="1">
            <a:spLocks/>
          </p:cNvSpPr>
          <p:nvPr/>
        </p:nvSpPr>
        <p:spPr>
          <a:xfrm>
            <a:off x="838200" y="533941"/>
            <a:ext cx="10515600" cy="70808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Review from other Insurance Companies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CCEDE7-3CE2-4BAE-83EA-8EF933ED5F31}"/>
              </a:ext>
            </a:extLst>
          </p:cNvPr>
          <p:cNvCxnSpPr/>
          <p:nvPr/>
        </p:nvCxnSpPr>
        <p:spPr>
          <a:xfrm>
            <a:off x="838200" y="1212382"/>
            <a:ext cx="99657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FBC797-FB29-4DCD-9835-13D858574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55236"/>
              </p:ext>
            </p:extLst>
          </p:nvPr>
        </p:nvGraphicFramePr>
        <p:xfrm>
          <a:off x="573257" y="1386523"/>
          <a:ext cx="10775853" cy="505647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219495">
                  <a:extLst>
                    <a:ext uri="{9D8B030D-6E8A-4147-A177-3AD203B41FA5}">
                      <a16:colId xmlns:a16="http://schemas.microsoft.com/office/drawing/2014/main" val="1554216147"/>
                    </a:ext>
                  </a:extLst>
                </a:gridCol>
                <a:gridCol w="3313739">
                  <a:extLst>
                    <a:ext uri="{9D8B030D-6E8A-4147-A177-3AD203B41FA5}">
                      <a16:colId xmlns:a16="http://schemas.microsoft.com/office/drawing/2014/main" val="2452913987"/>
                    </a:ext>
                  </a:extLst>
                </a:gridCol>
                <a:gridCol w="3242619">
                  <a:extLst>
                    <a:ext uri="{9D8B030D-6E8A-4147-A177-3AD203B41FA5}">
                      <a16:colId xmlns:a16="http://schemas.microsoft.com/office/drawing/2014/main" val="2702314880"/>
                    </a:ext>
                  </a:extLst>
                </a:gridCol>
              </a:tblGrid>
              <a:tr h="7682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Plan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Pragati Insurance Ltd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Delta Life insurance Ltd.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40977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Total Coverage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1 Lac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1 Lac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15562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In-Patient Accommodation limit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40K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40K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588785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Room Rent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2000/-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3000/-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874269"/>
                  </a:ext>
                </a:extLst>
              </a:tr>
              <a:tr h="7682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Treatment Expense (medicine, surgery etc.)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60K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60K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0838"/>
                  </a:ext>
                </a:extLst>
              </a:tr>
              <a:tr h="7682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Premium Rate per Insured Per Year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2,075/-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1950/-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929632"/>
                  </a:ext>
                </a:extLst>
              </a:tr>
              <a:tr h="7682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Total Cost only Employee (Yearly)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2,075×1700= 35,27,500/-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1950×1700= 33,15,000/-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565912"/>
                  </a:ext>
                </a:extLst>
              </a:tr>
              <a:tr h="7682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Total Yearly cost with Family </a:t>
                      </a:r>
                    </a:p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(4 people)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1,41,10,000/-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1,32,60,000/-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6377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515D38-3402-4E21-A179-E7B8B99CB732}"/>
              </a:ext>
            </a:extLst>
          </p:cNvPr>
          <p:cNvSpPr txBox="1"/>
          <p:nvPr/>
        </p:nvSpPr>
        <p:spPr>
          <a:xfrm>
            <a:off x="450166" y="6499272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**The above package is without Maternity Benefit.</a:t>
            </a:r>
          </a:p>
        </p:txBody>
      </p:sp>
    </p:spTree>
    <p:extLst>
      <p:ext uri="{BB962C8B-B14F-4D97-AF65-F5344CB8AC3E}">
        <p14:creationId xmlns:p14="http://schemas.microsoft.com/office/powerpoint/2010/main" val="2784006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5BD7-5C10-4994-991E-13B5C4FDB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7447"/>
            <a:ext cx="9144000" cy="184286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934B5E-4CD5-4B65-932D-7BAE7603F4CE}"/>
              </a:ext>
            </a:extLst>
          </p:cNvPr>
          <p:cNvCxnSpPr/>
          <p:nvPr/>
        </p:nvCxnSpPr>
        <p:spPr>
          <a:xfrm>
            <a:off x="3446584" y="3429000"/>
            <a:ext cx="5430129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F011E6-F019-447E-9FAB-702DFDA12989}"/>
              </a:ext>
            </a:extLst>
          </p:cNvPr>
          <p:cNvCxnSpPr>
            <a:cxnSpLocks/>
          </p:cNvCxnSpPr>
          <p:nvPr/>
        </p:nvCxnSpPr>
        <p:spPr>
          <a:xfrm>
            <a:off x="3598984" y="3581400"/>
            <a:ext cx="50526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63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843</Words>
  <Application>Microsoft Office PowerPoint</Application>
  <PresentationFormat>Widescreen</PresentationFormat>
  <Paragraphs>195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Group Medical Policy</vt:lpstr>
      <vt:lpstr>Scope and Coverage  </vt:lpstr>
      <vt:lpstr>What is covered? </vt:lpstr>
      <vt:lpstr>Terms &amp; Conditions </vt:lpstr>
      <vt:lpstr>Required Budget for 1 year </vt:lpstr>
      <vt:lpstr>Medical Expenses of 2020 &amp; 2021</vt:lpstr>
      <vt:lpstr>On Duty Accidental Benefit 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Medical Insurance</dc:title>
  <dc:creator>Tasnuva</dc:creator>
  <cp:lastModifiedBy>A K M Shafiq Ul Haque</cp:lastModifiedBy>
  <cp:revision>55</cp:revision>
  <cp:lastPrinted>2022-03-20T11:33:13Z</cp:lastPrinted>
  <dcterms:created xsi:type="dcterms:W3CDTF">2022-02-06T07:26:31Z</dcterms:created>
  <dcterms:modified xsi:type="dcterms:W3CDTF">2022-03-20T12:14:06Z</dcterms:modified>
</cp:coreProperties>
</file>